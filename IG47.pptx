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62" r:id="rId1"/>
    <p:sldMasterId id="2147484988" r:id="rId2"/>
  </p:sldMasterIdLst>
  <p:notesMasterIdLst>
    <p:notesMasterId r:id="rId31"/>
  </p:notesMasterIdLst>
  <p:handoutMasterIdLst>
    <p:handoutMasterId r:id="rId32"/>
  </p:handoutMasterIdLst>
  <p:sldIdLst>
    <p:sldId id="325" r:id="rId3"/>
    <p:sldId id="839" r:id="rId4"/>
    <p:sldId id="840" r:id="rId5"/>
    <p:sldId id="859" r:id="rId6"/>
    <p:sldId id="884" r:id="rId7"/>
    <p:sldId id="885" r:id="rId8"/>
    <p:sldId id="892" r:id="rId9"/>
    <p:sldId id="845" r:id="rId10"/>
    <p:sldId id="883" r:id="rId11"/>
    <p:sldId id="900" r:id="rId12"/>
    <p:sldId id="888" r:id="rId13"/>
    <p:sldId id="872" r:id="rId14"/>
    <p:sldId id="890" r:id="rId15"/>
    <p:sldId id="893" r:id="rId16"/>
    <p:sldId id="894" r:id="rId17"/>
    <p:sldId id="897" r:id="rId18"/>
    <p:sldId id="873" r:id="rId19"/>
    <p:sldId id="895" r:id="rId20"/>
    <p:sldId id="896" r:id="rId21"/>
    <p:sldId id="898" r:id="rId22"/>
    <p:sldId id="901" r:id="rId23"/>
    <p:sldId id="876" r:id="rId24"/>
    <p:sldId id="878" r:id="rId25"/>
    <p:sldId id="880" r:id="rId26"/>
    <p:sldId id="879" r:id="rId27"/>
    <p:sldId id="860" r:id="rId28"/>
    <p:sldId id="882" r:id="rId29"/>
    <p:sldId id="858" r:id="rId30"/>
  </p:sldIdLst>
  <p:sldSz cx="9144000" cy="6858000" type="screen4x3"/>
  <p:notesSz cx="9942513" cy="6761163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9EA8C8-584C-4C01-89E3-CC153F351FCF}">
          <p14:sldIdLst>
            <p14:sldId id="325"/>
            <p14:sldId id="839"/>
            <p14:sldId id="840"/>
            <p14:sldId id="859"/>
            <p14:sldId id="884"/>
            <p14:sldId id="885"/>
            <p14:sldId id="892"/>
            <p14:sldId id="845"/>
            <p14:sldId id="883"/>
            <p14:sldId id="900"/>
            <p14:sldId id="888"/>
            <p14:sldId id="872"/>
            <p14:sldId id="890"/>
            <p14:sldId id="893"/>
            <p14:sldId id="894"/>
            <p14:sldId id="897"/>
            <p14:sldId id="873"/>
            <p14:sldId id="895"/>
            <p14:sldId id="896"/>
            <p14:sldId id="898"/>
            <p14:sldId id="901"/>
            <p14:sldId id="876"/>
            <p14:sldId id="878"/>
            <p14:sldId id="880"/>
            <p14:sldId id="879"/>
            <p14:sldId id="860"/>
            <p14:sldId id="882"/>
            <p14:sldId id="8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0">
          <p15:clr>
            <a:srgbClr val="A4A3A4"/>
          </p15:clr>
        </p15:guide>
        <p15:guide id="2" pos="3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5D6C6"/>
    <a:srgbClr val="008AD5"/>
    <a:srgbClr val="FFFFFF"/>
    <a:srgbClr val="00B5FF"/>
    <a:srgbClr val="009CF3"/>
    <a:srgbClr val="005493"/>
    <a:srgbClr val="0096FF"/>
    <a:srgbClr val="FF2F92"/>
    <a:srgbClr val="7A81FF"/>
    <a:srgbClr val="BB5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094" autoAdjust="0"/>
  </p:normalViewPr>
  <p:slideViewPr>
    <p:cSldViewPr snapToGrid="0">
      <p:cViewPr varScale="1">
        <p:scale>
          <a:sx n="90" d="100"/>
          <a:sy n="90" d="100"/>
        </p:scale>
        <p:origin x="1277" y="58"/>
      </p:cViewPr>
      <p:guideLst>
        <p:guide orient="horz" pos="816"/>
        <p:guide pos="521"/>
      </p:guideLst>
    </p:cSldViewPr>
  </p:slideViewPr>
  <p:outlineViewPr>
    <p:cViewPr>
      <p:scale>
        <a:sx n="33" d="100"/>
        <a:sy n="33" d="100"/>
      </p:scale>
      <p:origin x="0" y="-4990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315"/>
    </p:cViewPr>
  </p:sorterViewPr>
  <p:notesViewPr>
    <p:cSldViewPr snapToGrid="0">
      <p:cViewPr varScale="1">
        <p:scale>
          <a:sx n="77" d="100"/>
          <a:sy n="77" d="100"/>
        </p:scale>
        <p:origin x="1599" y="43"/>
      </p:cViewPr>
      <p:guideLst>
        <p:guide orient="horz" pos="2130"/>
        <p:guide pos="31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 dirty="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FAB118C-9CC5-46C6-A261-8E8616325E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937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0563" y="500063"/>
            <a:ext cx="3400425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00163" y="3221038"/>
            <a:ext cx="7369175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CA46AE8F-55D5-467D-8760-46AABFD6E8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72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rgbClr val="E36C0A"/>
        </a:solidFill>
        <a:latin typeface="Times New Roman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253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46AE8F-55D5-467D-8760-46AABFD6E88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42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373" y="685800"/>
            <a:ext cx="7901609" cy="1615966"/>
          </a:xfrm>
          <a:solidFill>
            <a:srgbClr val="D2691E"/>
          </a:solidFill>
          <a:ln>
            <a:solidFill>
              <a:srgbClr val="D2691E"/>
            </a:solidFill>
          </a:ln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819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60772DA-5EEF-F2DB-EA3A-53ED2791D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90488" indent="0">
              <a:tabLst/>
              <a:defRPr/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3A4BD7D-405F-9CB0-AA2C-010D5B4F7D04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86197" y="782321"/>
            <a:ext cx="8953500" cy="59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latin typeface="Helvetica" pitchFamily="2" charset="0"/>
              </a:defRPr>
            </a:lvl1pPr>
            <a:lvl2pPr>
              <a:defRPr sz="1600">
                <a:latin typeface="Helvetica" pitchFamily="2" charset="0"/>
              </a:defRPr>
            </a:lvl2pPr>
            <a:lvl3pPr>
              <a:defRPr sz="1600">
                <a:latin typeface="Helvetica" pitchFamily="2" charset="0"/>
              </a:defRPr>
            </a:lvl3pPr>
            <a:lvl4pPr>
              <a:defRPr sz="1600">
                <a:latin typeface="Helvetica" pitchFamily="2" charset="0"/>
              </a:defRPr>
            </a:lvl4pPr>
            <a:lvl5pPr>
              <a:defRPr sz="1600">
                <a:latin typeface="Helvetica" pitchFamily="2" charset="0"/>
              </a:defRPr>
            </a:lvl5pPr>
          </a:lstStyle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490A3F-A374-7A6E-AF01-14E3ADC8E0A4}"/>
              </a:ext>
            </a:extLst>
          </p:cNvPr>
          <p:cNvCxnSpPr/>
          <p:nvPr userDrawn="1"/>
        </p:nvCxnSpPr>
        <p:spPr bwMode="auto">
          <a:xfrm>
            <a:off x="579120" y="6658235"/>
            <a:ext cx="79349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549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3747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F549-2A59-0EBE-B20C-FDD132AA0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F5E6B-4232-7F47-6572-C584B624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A181-A82F-DFFF-0C75-00D161BB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AFD2-15E4-94FD-6B2F-AED1EAD5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8875-6B38-F6E0-7F20-3D45C9D4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1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0DF3-5750-400D-C0A3-FD269105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BC4B-D896-69F5-E7C3-62A4AB7A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07398-FDC7-1A26-6F22-383DEF79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FA35C-7866-57F6-19ED-0D2C9294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EC1F-A855-3058-4205-BD67617B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0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3BD2-D04D-C43F-C5DB-F859BE6B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B6478-CD27-AAB2-D9C3-903711F7D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36A2-37B4-E9CC-9FE7-FA068FC4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F65CB-C85A-1BEC-7089-2FDF5A62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4C664-95ED-AD50-E01A-84573DB4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6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BCED-5EB5-47E1-0BF0-783FDEFE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DFF23-8CDF-00B4-69A6-7A113B7A1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1131A-DEEA-72E3-2147-21823668A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5BF4E-F3EE-751A-3277-A34B448B8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E018C-DE01-DD2D-91A4-8E4F4C4E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027FA-4DB8-8064-7F50-FC33CF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5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C92F-1A51-C9CF-592B-B791F2B1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D5B5-0196-29B0-0C59-AFC50C286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0ECBA-F070-B624-1183-A804AB30F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231DF-2850-ABEF-478F-712432FBF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D5C47-74CF-B0D8-AF5E-B61C5DF6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BD41A-DE03-A4C3-D852-98621722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D5BAC-5376-F14B-A7C2-6448B9DA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2040C-B4AA-29B9-072C-53D23770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5863-EB41-7519-D5D8-504BBCE0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EA473-481E-7A4E-0D15-CA8C9126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B42F5-5CDF-FCB6-3FFD-50104AC0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D58FF-0702-F585-C5E9-AF667AD1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166C8-F956-7DF6-EF97-BF79F049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DFCA2-8259-1499-BB18-43AF6234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0F6BB-25BE-AE16-B87C-55A7EA6E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5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372F-13DF-2C8B-A02E-7FA8660C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A82C-ED11-0064-5D40-A0969ACEB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6AD5D-C77F-2DEB-F932-42D23B459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24465-317D-30C8-E120-77B80050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A9908-C7A3-84A0-B790-860F5DA7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D6993-9C35-41D2-39DB-C35CAC96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2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5142-42C2-98C6-191B-7D76312C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79E1E-F134-700D-EE57-D753560BA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13C7F-9F56-6EE4-7729-50E8E87AB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A8426-D088-EB2C-AA97-0F35A0F9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94F67-DE2A-27E0-A332-10FED3DE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3980A-1732-61A9-1869-56D8BB42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3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0EA8-09A8-DB4C-245F-2B2ACFAF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735B-DE2A-097B-BF58-29178F6E8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BF62-F6A7-8AA2-F96A-D569858A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62532-AE81-CABD-BF79-AE45984E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80679-0A10-B48C-45F5-CD24BEF1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44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7BEC8-8876-DCEC-4C31-E710E5C66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27F8C-50FA-23DD-E83D-04B476814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E797-D19F-0A9F-0C01-A6181225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5B23-40E1-9EB6-E8AB-800821F5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CA9C8-FF39-4ACB-2644-7DBFF351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0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0007-9E92-488F-FBC3-8F416B54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5664E-E30C-F040-0357-44B0CD98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09917-0B98-9D01-2161-181852C1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9CBC5-B5C7-CB3D-CD6C-C05C764C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5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FEE6AF91-C5F0-494A-81BE-8C742BFB874C}" type="datetime2">
              <a:rPr lang="en-US" altLang="en-US" sz="1000" b="1" smtClean="0">
                <a:solidFill>
                  <a:schemeClr val="bg1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Friday, March 6, 2026</a:t>
            </a:fld>
            <a:endParaRPr lang="en-US" altLang="en-US" sz="1000" b="1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pic>
        <p:nvPicPr>
          <p:cNvPr id="3" name="Picture 2" descr="JUIT Office Photos | Glassdoor">
            <a:extLst>
              <a:ext uri="{FF2B5EF4-FFF2-40B4-BE49-F238E27FC236}">
                <a16:creationId xmlns:a16="http://schemas.microsoft.com/office/drawing/2014/main" id="{9C49182E-65AF-DD89-1EC9-BD22AFA987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49072" y="42901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1EF5F1E6-CB5A-2AA7-E80E-C34A90324CDF}"/>
              </a:ext>
            </a:extLst>
          </p:cNvPr>
          <p:cNvSpPr txBox="1">
            <a:spLocks/>
          </p:cNvSpPr>
          <p:nvPr userDrawn="1"/>
        </p:nvSpPr>
        <p:spPr>
          <a:xfrm>
            <a:off x="123673" y="6687228"/>
            <a:ext cx="8694256" cy="195391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5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       </a:t>
            </a:r>
            <a:r>
              <a:rPr lang="en-US" sz="90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Major Project – II (18B19CI781) Mid-Term Evaluation (MTE) | Department of CSE &amp; IT | AY 2025-26. 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8C0F4A93-94A3-EEA3-40A0-2AA166503844}"/>
              </a:ext>
            </a:extLst>
          </p:cNvPr>
          <p:cNvSpPr txBox="1">
            <a:spLocks/>
          </p:cNvSpPr>
          <p:nvPr userDrawn="1"/>
        </p:nvSpPr>
        <p:spPr>
          <a:xfrm>
            <a:off x="8798560" y="6613912"/>
            <a:ext cx="259243" cy="2460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50" dirty="0">
              <a:solidFill>
                <a:srgbClr val="002060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1E367-86B8-5C9F-E2DA-EA8B374AA0AD}"/>
              </a:ext>
            </a:extLst>
          </p:cNvPr>
          <p:cNvSpPr txBox="1"/>
          <p:nvPr userDrawn="1"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F37DA46-7849-8B45-8870-09779661198C}" type="slidenum">
              <a:rPr lang="en-US" sz="900" smtClean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pPr algn="ctr"/>
              <a:t>‹#›</a:t>
            </a:fld>
            <a:r>
              <a:rPr lang="en-US" sz="900" dirty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t>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25000"/>
        <a:buFont typeface="Arial" panose="020B0604020202020204" pitchFamily="34" charset="0"/>
        <a:buChar char="•"/>
        <a:defRPr kumimoji="1" sz="18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00000"/>
        <a:buFont typeface="Courier New" panose="02070309020205020404" pitchFamily="49" charset="0"/>
        <a:buChar char="o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2pPr>
      <a:lvl3pPr marL="10858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3pPr>
      <a:lvl4pPr marL="14287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4pPr>
      <a:lvl5pPr marL="17716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1EF06-99F3-7E6C-9BF2-BD4BE618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F1F65-9F9F-07B2-D418-72BC478B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58697-C660-8953-14A2-614079BBD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509C-50A6-7446-A231-A4C5FA90B28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1EF59-EF14-9B74-67DE-1763E5B7A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D9C0-D19B-AF9A-1547-969981E03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9" r:id="rId1"/>
    <p:sldLayoutId id="2147484990" r:id="rId2"/>
    <p:sldLayoutId id="2147484991" r:id="rId3"/>
    <p:sldLayoutId id="2147484992" r:id="rId4"/>
    <p:sldLayoutId id="2147484993" r:id="rId5"/>
    <p:sldLayoutId id="2147484994" r:id="rId6"/>
    <p:sldLayoutId id="2147484995" r:id="rId7"/>
    <p:sldLayoutId id="2147484996" r:id="rId8"/>
    <p:sldLayoutId id="2147484997" r:id="rId9"/>
    <p:sldLayoutId id="2147484998" r:id="rId10"/>
    <p:sldLayoutId id="2147484999" r:id="rId11"/>
    <p:sldLayoutId id="21474850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pita1501/university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521540"/>
            <a:ext cx="9144000" cy="759871"/>
          </a:xfrm>
          <a:solidFill>
            <a:srgbClr val="0037A4"/>
          </a:solidFill>
          <a:ln w="19050">
            <a:solidFill>
              <a:schemeClr val="bg1"/>
            </a:solidFill>
          </a:ln>
        </p:spPr>
        <p:txBody>
          <a:bodyPr anchor="t"/>
          <a:lstStyle/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cs typeface="Tahoma" panose="020B0604030504040204" pitchFamily="34" charset="0"/>
              </a:rPr>
              <a:t>Training Period-AEM</a:t>
            </a:r>
            <a:endParaRPr lang="en-US" altLang="en-US" sz="1400" b="1" dirty="0">
              <a:cs typeface="Tahom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1FB7B0-90E1-217E-359E-488BB2E7656E}"/>
              </a:ext>
            </a:extLst>
          </p:cNvPr>
          <p:cNvSpPr/>
          <p:nvPr/>
        </p:nvSpPr>
        <p:spPr>
          <a:xfrm>
            <a:off x="1397314" y="2108091"/>
            <a:ext cx="6349367" cy="1069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Major Project - II (18B19CI891) | AY 2025-26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Mid-Term Evaluation | March 2026.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B7EDF-18D7-C792-681D-E69AE68A4AAB}"/>
              </a:ext>
            </a:extLst>
          </p:cNvPr>
          <p:cNvSpPr txBox="1"/>
          <p:nvPr/>
        </p:nvSpPr>
        <p:spPr>
          <a:xfrm>
            <a:off x="517798" y="4498606"/>
            <a:ext cx="3620582" cy="1584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Group No.: </a:t>
            </a:r>
          </a:p>
          <a:p>
            <a:endParaRPr lang="en-IN" sz="1600" dirty="0">
              <a:latin typeface="Helvetica" pitchFamily="2" charset="0"/>
              <a:ea typeface="Palatino" pitchFamily="2" charset="77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IN" sz="1600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Team Member (s)</a:t>
            </a:r>
            <a:endParaRPr lang="en-US" sz="1600" b="1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Arpita Rani(221030055)</a:t>
            </a:r>
          </a:p>
          <a:p>
            <a:pPr algn="ctr"/>
            <a:endParaRPr lang="en-US" sz="1600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2713F-9CAD-198F-43B7-75929E7A5424}"/>
              </a:ext>
            </a:extLst>
          </p:cNvPr>
          <p:cNvSpPr txBox="1"/>
          <p:nvPr/>
        </p:nvSpPr>
        <p:spPr>
          <a:xfrm>
            <a:off x="4572000" y="5041029"/>
            <a:ext cx="4417764" cy="1361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rPr>
              <a:t>Supervisor</a:t>
            </a: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Name: Mr. Gaurav Negi</a:t>
            </a:r>
          </a:p>
          <a:p>
            <a:pPr marL="357188">
              <a:lnSpc>
                <a:spcPct val="125000"/>
              </a:lnSpc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Designation: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Assistant Professor(Grade-1)</a:t>
            </a:r>
          </a:p>
          <a:p>
            <a:pPr marL="357188">
              <a:lnSpc>
                <a:spcPct val="125000"/>
              </a:lnSpc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   (CSE &amp; IT)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314CA5-1CBF-7BB0-83BB-4FDA4318A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492" y="-165253"/>
            <a:ext cx="1178805" cy="895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D618C9-A35C-A359-4E30-21B6471F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901" y="160424"/>
            <a:ext cx="1015707" cy="345492"/>
          </a:xfrm>
          <a:prstGeom prst="rect">
            <a:avLst/>
          </a:prstGeom>
        </p:spPr>
      </p:pic>
      <p:pic>
        <p:nvPicPr>
          <p:cNvPr id="12" name="Picture 11" descr="JUIT Office Photos | Glassdoor">
            <a:extLst>
              <a:ext uri="{FF2B5EF4-FFF2-40B4-BE49-F238E27FC236}">
                <a16:creationId xmlns:a16="http://schemas.microsoft.com/office/drawing/2014/main" id="{7647374D-C05A-F866-81A8-19ED5262B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17" y="93342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7539BDE9-603E-4BD3-A201-EB56FD66F79C}"/>
              </a:ext>
            </a:extLst>
          </p:cNvPr>
          <p:cNvSpPr txBox="1">
            <a:spLocks/>
          </p:cNvSpPr>
          <p:nvPr/>
        </p:nvSpPr>
        <p:spPr>
          <a:xfrm>
            <a:off x="-2" y="601361"/>
            <a:ext cx="9144000" cy="1411285"/>
          </a:xfrm>
          <a:prstGeom prst="rect">
            <a:avLst/>
          </a:prstGeom>
        </p:spPr>
        <p:txBody>
          <a:bodyPr anchor="b"/>
          <a:lstStyle/>
          <a:p>
            <a:pPr algn="ctr" eaLnBrk="1" fontAlgn="auto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IN" sz="28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Jaypee University of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Department of Computer Science and Engineering and Information Technology</a:t>
            </a:r>
            <a:endParaRPr kumimoji="0" lang="en-IN" sz="2600" b="1" i="0" u="none" strike="noStrike" kern="1200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alatino" pitchFamily="2" charset="77"/>
              <a:ea typeface="Palatino" pitchFamily="2" charset="7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4153359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Introduction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Objectives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Literature Review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Project Design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Tools, Technologies and Languages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Implementation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Experimental Results and Evaluation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Key Learnings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Work Contribution and Attendance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Supervisor Interactions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References</a:t>
            </a:r>
          </a:p>
          <a:p>
            <a:pPr marL="357188" indent="-261938">
              <a:lnSpc>
                <a:spcPct val="140000"/>
              </a:lnSpc>
            </a:pPr>
            <a:endParaRPr lang="en-IN" sz="1600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  <a:p>
            <a:pPr marL="357188" indent="-261938">
              <a:lnSpc>
                <a:spcPct val="140000"/>
              </a:lnSpc>
            </a:pPr>
            <a:endParaRPr lang="en-IN" sz="1600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  <a:p>
            <a:pPr marL="357188" indent="-261938">
              <a:lnSpc>
                <a:spcPct val="140000"/>
              </a:lnSpc>
            </a:pPr>
            <a:endParaRPr lang="en-IN" sz="1600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600" kern="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2881-9DEC-B43E-083D-F84E7CEACD33}"/>
              </a:ext>
            </a:extLst>
          </p:cNvPr>
          <p:cNvSpPr txBox="1">
            <a:spLocks/>
          </p:cNvSpPr>
          <p:nvPr/>
        </p:nvSpPr>
        <p:spPr bwMode="auto">
          <a:xfrm>
            <a:off x="5233012" y="804231"/>
            <a:ext cx="3833872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altLang="en-US" sz="1600" kern="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50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8" y="110167"/>
            <a:ext cx="8328752" cy="6940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-236863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495300" lvl="1" indent="0" algn="l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internship, I worked on the following tasks: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Developing custom AEM components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HTL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Implementing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Sling Models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backend logic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Creating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Path-based and Resource-based Servlets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Managing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responses and API endpoints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Configuring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Dispatcher (Apache)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caching and URL rewriting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Working with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and Publish instances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Debugging issues related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 mapping, script resolution, and content rendering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Exploring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Docker-based Dispatcher setup</a:t>
            </a:r>
            <a:r>
              <a:rPr lang="en-IN" sz="18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526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81000" indent="-285750"/>
            <a:r>
              <a:rPr lang="en-IN" sz="18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To develop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understanding of Core Java and object-oriented programming (OOP) concepts used in enterprise applications.</a:t>
            </a:r>
          </a:p>
          <a:p>
            <a:pPr marL="38100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architecture and workflow of Adobe Experience Manager (AEM), including Author–Publish architecture and content replication.</a:t>
            </a:r>
          </a:p>
          <a:p>
            <a:pPr marL="38100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AEM development using technologies such as Sling, OSGi, JCR, HTL, and Sling Models for building and customizing components.</a:t>
            </a:r>
          </a:p>
          <a:p>
            <a:pPr marL="38100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backend functionality using Path-based and Resource-based Servlets and understand the structure of the CRX repository.</a:t>
            </a:r>
          </a:p>
          <a:p>
            <a:pPr marL="38100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Dispatcher (Apache) configuration for caching and URL rewriting, work with Maven-based project structures, and enhance debugging and deployment skills in a real-world development environment</a:t>
            </a:r>
            <a:endParaRPr lang="en-IN" sz="1800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7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Literature Review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25FF3-733E-7FFB-B98E-115B69886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709611"/>
              </p:ext>
            </p:extLst>
          </p:nvPr>
        </p:nvGraphicFramePr>
        <p:xfrm>
          <a:off x="110169" y="732719"/>
          <a:ext cx="8923663" cy="593789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922356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964063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85258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  <a:b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</a:t>
                      </a:r>
                      <a:b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616961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Dayasagar Vangala-Headless CMS with AEM: Building Omnichannel Digital Experiences</a:t>
                      </a:r>
                    </a:p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AEM and </a:t>
                      </a:r>
                      <a:r>
                        <a:rPr lang="en-US" sz="1300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GraphQL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Headless AEM uses Content Fragments and 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GraphQL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APIs to deliver content across omnichannel touchpoints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technical complexity for developers; marketing teams may struggle with the loss of "drag-and-drop" visual editing in purely headless models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425866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Bhanu Phanindra Babu </a:t>
                      </a:r>
                      <a:r>
                        <a:rPr lang="en-US" sz="1300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Gogla</a:t>
                      </a: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Optimizing Adobe Experience Manager Performance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OSGi , Sling Framework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Delivery Services (EDS) 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a performance-first architecture to achieve high Google Core Web Vitals scores. 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requires strict adherence to lean HTML/CSS and rigorous performance profiling during load tests to simulate "real-world" content.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425866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Dayasagar Vangala-</a:t>
                      </a:r>
                    </a:p>
                    <a:p>
                      <a:r>
                        <a:rPr lang="en-US" sz="13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Secure AEM Integrations Using OAuth and Adobe I/O Runtime</a:t>
                      </a:r>
                    </a:p>
                    <a:p>
                      <a:r>
                        <a:rPr lang="en-US" sz="13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January 2020</a:t>
                      </a:r>
                      <a:br>
                        <a:rPr lang="en-US" sz="13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HTL,AEM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AEM uses OAuth 2.0 and JWT (JSON Web Tokens) via Adobe I/O Runtime to secure integrations.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 theft and replay attacks remain a threat in distributed ecosystems, requiring adaptive access policies and continuous monitoring.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421016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54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2D1C-6E0E-88C5-66A3-B524DCAA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0671-A451-62A6-6861-A0CBB876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Literature Review (</a:t>
            </a:r>
            <a:r>
              <a:rPr lang="en-IN" sz="240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A8BFBD-5585-5A38-BE37-37B3EE9F27F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94D322-3275-F1E8-F7CB-393836BD7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395924"/>
              </p:ext>
            </p:extLst>
          </p:nvPr>
        </p:nvGraphicFramePr>
        <p:xfrm>
          <a:off x="110168" y="881352"/>
          <a:ext cx="8923663" cy="5212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665794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  <a:b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</a:t>
                      </a:r>
                      <a:b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081915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Agrawal, Y. – </a:t>
                      </a:r>
                      <a:r>
                        <a:rPr lang="en-US" sz="13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Auth Shim: Lightweight Architectural Pattern for Enterprise SSO Integration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 Identity Integration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secure authentication architecture for enterprise systems including platforms such as Adobe infrastructure.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specifically designed for AEM CMS platforms.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414812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Adobe Inc. – Introduction to the AEM Architecture Stack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Sling, OSGi, JCR, Jackrabbit Oak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Describes the layered architecture of AEM including Sling framework, JCR repository, and OSGi modular services used for enterprise CMS development.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conceptual documentation; lacks experimental performance analysis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081915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Adobe – AEM Forms Architecture and Deployment Topologies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APIs, Sling Framework, OSGi Container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AEM as a Cloud Service (</a:t>
                      </a:r>
                      <a:r>
                        <a:rPr lang="en-US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AEMaaCS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uses a microservices-based, containerized infrastructure that auto-scales based on traffic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Legacy "on-premise" customizations, such as Classic UI and certain native OS-level binaries, are no longer supported.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267478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120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225B-EBC5-6594-440A-BA4E7ABC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7A5E-A7EE-D473-561F-4A64A753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Project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1D5D0B-1AF1-89E5-B6B0-118FFECC4597}"/>
              </a:ext>
            </a:extLst>
          </p:cNvPr>
          <p:cNvSpPr txBox="1">
            <a:spLocks/>
          </p:cNvSpPr>
          <p:nvPr/>
        </p:nvSpPr>
        <p:spPr bwMode="auto">
          <a:xfrm>
            <a:off x="93643" y="1032646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EA2CF-38F9-DD2C-D4E1-84B79A2B3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095" y="724544"/>
            <a:ext cx="4503810" cy="5616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70F8BD-DB04-FEAE-B173-4247BFFA4433}"/>
              </a:ext>
            </a:extLst>
          </p:cNvPr>
          <p:cNvSpPr txBox="1"/>
          <p:nvPr/>
        </p:nvSpPr>
        <p:spPr>
          <a:xfrm>
            <a:off x="3043626" y="6310519"/>
            <a:ext cx="4893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How internally system works</a:t>
            </a:r>
          </a:p>
        </p:txBody>
      </p:sp>
    </p:spTree>
    <p:extLst>
      <p:ext uri="{BB962C8B-B14F-4D97-AF65-F5344CB8AC3E}">
        <p14:creationId xmlns:p14="http://schemas.microsoft.com/office/powerpoint/2010/main" val="2790464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Project Design </a:t>
            </a:r>
            <a:r>
              <a:rPr lang="en-IN" sz="2400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(</a:t>
            </a:r>
            <a:r>
              <a:rPr lang="en-IN" sz="2400" b="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-60960" y="626430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Adobe Experience Manager (AEM)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content management system used to create, manage, and deliver digital content for websites and applications.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AEM architecture mainly consists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Instance, Publish Instance, and Dispatcher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instance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by developers and content authors to create and manage content, while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instance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the content to end users.</a:t>
            </a:r>
          </a:p>
          <a:p>
            <a:pPr marL="357188" indent="-261938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acts as a caching and load balancing layer to improve performance and security.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AEM applications are developed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Components, Sling Models, Servlets, and OSGi 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projects are built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Maven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7188" indent="-261938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Sling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in AEM to map HTTP requests to resources and components.</a:t>
            </a:r>
          </a:p>
          <a:p>
            <a:pPr marL="357188" indent="-261938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CRX Repository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all content, components, configurations, and digital assets in AEM.</a:t>
            </a:r>
          </a:p>
          <a:p>
            <a:pPr marL="357188" indent="-261938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create the frontend structure of AEM components.</a:t>
            </a:r>
            <a:endParaRPr lang="en-IN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498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98B9-7821-8ACD-C792-3B5F23C9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8411-792B-E2E6-69EC-2D600A8E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Project Design </a:t>
            </a:r>
            <a:r>
              <a:rPr lang="en-IN" sz="2400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(</a:t>
            </a:r>
            <a:r>
              <a:rPr lang="en-IN" sz="2400" b="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606774-D02D-0AA6-E33B-F48A47CAD52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9A48D-788D-903E-3112-A981045E8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095" y="1123831"/>
            <a:ext cx="5035809" cy="4610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BB394C-137D-276F-FB75-625F42E892E4}"/>
              </a:ext>
            </a:extLst>
          </p:cNvPr>
          <p:cNvSpPr txBox="1"/>
          <p:nvPr/>
        </p:nvSpPr>
        <p:spPr>
          <a:xfrm>
            <a:off x="3746592" y="5985933"/>
            <a:ext cx="462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CRXDE Lite</a:t>
            </a:r>
          </a:p>
        </p:txBody>
      </p:sp>
    </p:spTree>
    <p:extLst>
      <p:ext uri="{BB962C8B-B14F-4D97-AF65-F5344CB8AC3E}">
        <p14:creationId xmlns:p14="http://schemas.microsoft.com/office/powerpoint/2010/main" val="227930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9C1C9-49E3-BC8E-F91B-2C2AE581D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B774-C9EB-16B6-9D9F-5D8ABB2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Project Design </a:t>
            </a:r>
            <a:r>
              <a:rPr lang="en-IN" sz="2400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(</a:t>
            </a:r>
            <a:r>
              <a:rPr lang="en-IN" sz="2400" b="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9215F5-7B20-9115-E2C3-0C0C250017A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B8634-6227-49DA-3846-F69DA6019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880" y="1282589"/>
            <a:ext cx="3702240" cy="42928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7B4A90-DA45-433F-31DC-E7660EB21692}"/>
              </a:ext>
            </a:extLst>
          </p:cNvPr>
          <p:cNvSpPr txBox="1"/>
          <p:nvPr/>
        </p:nvSpPr>
        <p:spPr>
          <a:xfrm>
            <a:off x="3191933" y="5715214"/>
            <a:ext cx="4030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IntelliJ 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230423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Tools, Technologies and Languages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IDEA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 for developing and managing AEM project code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CRXDE 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Repository browser for managing AEM content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Maven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 automation and dependency management tool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Version control system for tracking code changes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Tool for testing APIs and servlets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Containerized setup for Dispatcher environment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Works with Dispatcher for caching and URL rewriting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Adobe Experience Manager (AEM)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Enterprise Content Management System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Resource-based web framework used by AEM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0" indent="0">
              <a:buNone/>
            </a:pPr>
            <a:endParaRPr lang="en-IN" sz="1800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08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83E9-4D65-8F6A-A293-9964898E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F428-D835-24F5-B739-88BAA5A4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Tools, Technologies and Languages (</a:t>
            </a:r>
            <a:r>
              <a:rPr lang="en-IN" sz="240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E003AF-2ACF-683D-8024-26560017920A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OSGi (Apache Felix)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Framework for modular services and components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Jackrabbit Oak (JCR)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Content repository used to store data in AEM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Caching and load balancing tool for performance optimization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Languages: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development (Servlets, Sling Models, Services)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HTL (HTML Template Language)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rendering AEM components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Structure of web pages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Styling and layout design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Client-side functionality and interactivity</a:t>
            </a:r>
          </a:p>
          <a:p>
            <a:pPr marL="952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dialogs, configurations, and repository definitions</a:t>
            </a:r>
          </a:p>
          <a:p>
            <a:pPr marL="95250" indent="0">
              <a:buNone/>
            </a:pPr>
            <a:endParaRPr lang="en-IN" sz="1800" b="1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468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E0838-BF8E-97BF-1984-3697074B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8" y="1171755"/>
            <a:ext cx="8812882" cy="4514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105E54-36BA-3744-317F-E37B3C2C2141}"/>
              </a:ext>
            </a:extLst>
          </p:cNvPr>
          <p:cNvSpPr txBox="1"/>
          <p:nvPr/>
        </p:nvSpPr>
        <p:spPr>
          <a:xfrm>
            <a:off x="3708400" y="5715215"/>
            <a:ext cx="391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Login Page</a:t>
            </a:r>
          </a:p>
        </p:txBody>
      </p:sp>
    </p:spTree>
    <p:extLst>
      <p:ext uri="{BB962C8B-B14F-4D97-AF65-F5344CB8AC3E}">
        <p14:creationId xmlns:p14="http://schemas.microsoft.com/office/powerpoint/2010/main" val="3407709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C85D1-0BFF-36D3-E66B-B3157EA5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826D-CDF3-C24C-885D-ACDC843C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0784C3-80BA-D79F-422B-B1A651248AB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ED039-DE61-CC30-A3C3-417E5894A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8" y="1227208"/>
            <a:ext cx="8879596" cy="44035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002C41-A131-A992-CBCE-5020D9793D77}"/>
              </a:ext>
            </a:extLst>
          </p:cNvPr>
          <p:cNvSpPr txBox="1"/>
          <p:nvPr/>
        </p:nvSpPr>
        <p:spPr>
          <a:xfrm>
            <a:off x="3234266" y="5664256"/>
            <a:ext cx="355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5: 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870366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31DC-3C21-12BE-7E18-E64B47D1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0750-7FC2-DBC8-B25E-E4505654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Implementation (</a:t>
            </a:r>
            <a:r>
              <a:rPr lang="en-IN" sz="240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B77656-C745-88CA-F06B-6046B0BAF21A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046F9-1563-7980-D782-2383ADD7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8" y="1130656"/>
            <a:ext cx="8846546" cy="4596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406967-33FB-4E49-9DD5-3172FEE96BA9}"/>
              </a:ext>
            </a:extLst>
          </p:cNvPr>
          <p:cNvSpPr txBox="1"/>
          <p:nvPr/>
        </p:nvSpPr>
        <p:spPr>
          <a:xfrm>
            <a:off x="3259667" y="5807030"/>
            <a:ext cx="3767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6: Java Final Assignment</a:t>
            </a:r>
          </a:p>
        </p:txBody>
      </p:sp>
    </p:spTree>
    <p:extLst>
      <p:ext uri="{BB962C8B-B14F-4D97-AF65-F5344CB8AC3E}">
        <p14:creationId xmlns:p14="http://schemas.microsoft.com/office/powerpoint/2010/main" val="2667767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7D4A-4782-F58C-BACA-4B816498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8A7A-4BDB-B5F7-EBD3-65158ED7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Implementation (</a:t>
            </a:r>
            <a:r>
              <a:rPr lang="en-IN" sz="240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830A56-4854-6645-562C-39515E660E6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AEM development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IntelliJ IDEA, Apache Maven, and CRXDE Lite.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and configured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AEM components and dialogs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and display content.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backend logic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Sling Models, Servlets, and OSGi 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HTL (HTML Template Language)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render dynamic content in components.</a:t>
            </a:r>
          </a:p>
          <a:p>
            <a:pPr marL="357188" indent="-261938"/>
            <a:r>
              <a:rPr lang="en-IN" sz="18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Managed project build and deployment using </a:t>
            </a:r>
            <a:r>
              <a:rPr lang="en-IN" sz="1800" b="1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Maven </a:t>
            </a:r>
            <a:r>
              <a:rPr lang="en-IN" sz="18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and maintained code using Git.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functionalities and verified component behavior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AEM Author instance.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AEM components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following modular design practices.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OSGi services and logging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backend functionality and debugging.</a:t>
            </a:r>
          </a:p>
          <a:p>
            <a:pPr marL="357188" indent="-261938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debugging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proper rendering and functionality of components.</a:t>
            </a:r>
            <a:endParaRPr lang="en-IN" sz="1800" b="1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61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00FA-E015-693D-5750-83EC8B7D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EA1E-C26B-60E9-2BA3-86D15261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Experimental Results and Evaluation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584451-44FA-A9E5-6C25-938EFC57D3F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66B0E-B6BB-612B-B6F7-5A278C1A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349"/>
            <a:ext cx="9144000" cy="43813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D61919-F3CA-F091-6A56-4364BA844B83}"/>
              </a:ext>
            </a:extLst>
          </p:cNvPr>
          <p:cNvSpPr txBox="1"/>
          <p:nvPr/>
        </p:nvSpPr>
        <p:spPr>
          <a:xfrm>
            <a:off x="3208866" y="5619650"/>
            <a:ext cx="5444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7: Card Listing Component</a:t>
            </a:r>
          </a:p>
        </p:txBody>
      </p:sp>
    </p:spTree>
    <p:extLst>
      <p:ext uri="{BB962C8B-B14F-4D97-AF65-F5344CB8AC3E}">
        <p14:creationId xmlns:p14="http://schemas.microsoft.com/office/powerpoint/2010/main" val="3671605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21D5-3E69-1A6A-0123-ED3A9B56D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FDAF-CBFB-D6AE-7160-8429C02D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Experimental Results and Evaluation (</a:t>
            </a:r>
            <a:r>
              <a:rPr lang="en-IN" sz="240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A801C9-546A-4637-E895-7436F30588D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767BF-2F2E-618E-8C98-4868C8B8F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978"/>
            <a:ext cx="9144000" cy="4870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16A7D6-3E21-EB07-0C1C-3A884CC8B12B}"/>
              </a:ext>
            </a:extLst>
          </p:cNvPr>
          <p:cNvSpPr txBox="1"/>
          <p:nvPr/>
        </p:nvSpPr>
        <p:spPr>
          <a:xfrm>
            <a:off x="3640667" y="5943709"/>
            <a:ext cx="3369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8: DAM Asset </a:t>
            </a:r>
          </a:p>
        </p:txBody>
      </p:sp>
    </p:spTree>
    <p:extLst>
      <p:ext uri="{BB962C8B-B14F-4D97-AF65-F5344CB8AC3E}">
        <p14:creationId xmlns:p14="http://schemas.microsoft.com/office/powerpoint/2010/main" val="2400475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2C902-FFCF-57F0-6CA2-5CF88BF2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E197-E8D0-BB05-54CC-E1A2D703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Experimental Results and Evaluation (</a:t>
            </a:r>
            <a:r>
              <a:rPr lang="en-IN" sz="240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B1E0E4-053E-905C-34DC-B1931DBE00E0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916A8-66C0-9895-CDBB-A2D83B22D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37" y="1590580"/>
            <a:ext cx="8293526" cy="3676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0571A6-269A-BAC5-F472-2E833533D320}"/>
              </a:ext>
            </a:extLst>
          </p:cNvPr>
          <p:cNvSpPr txBox="1"/>
          <p:nvPr/>
        </p:nvSpPr>
        <p:spPr>
          <a:xfrm>
            <a:off x="3259667" y="5425430"/>
            <a:ext cx="3962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9: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ClientLibs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(CSS and JS)</a:t>
            </a:r>
          </a:p>
        </p:txBody>
      </p:sp>
    </p:spTree>
    <p:extLst>
      <p:ext uri="{BB962C8B-B14F-4D97-AF65-F5344CB8AC3E}">
        <p14:creationId xmlns:p14="http://schemas.microsoft.com/office/powerpoint/2010/main" val="36689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FD5C-F4E3-1892-59C0-401645F17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C802-8F11-4262-FBD2-34ED63A5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Experimental Results and Evaluation (</a:t>
            </a:r>
            <a:r>
              <a:rPr lang="en-IN" sz="240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E66622-0E71-1D29-81B8-E3654BBDCF5C}"/>
              </a:ext>
            </a:extLst>
          </p:cNvPr>
          <p:cNvSpPr txBox="1">
            <a:spLocks/>
          </p:cNvSpPr>
          <p:nvPr/>
        </p:nvSpPr>
        <p:spPr bwMode="auto">
          <a:xfrm>
            <a:off x="40640" y="804230"/>
            <a:ext cx="8956714" cy="533410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CC2C2-95B4-3084-66A4-94B471062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8" y="804230"/>
            <a:ext cx="8846546" cy="5435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ECEB2-92E7-4C58-7C6A-F2C839D08DCC}"/>
              </a:ext>
            </a:extLst>
          </p:cNvPr>
          <p:cNvSpPr txBox="1"/>
          <p:nvPr/>
        </p:nvSpPr>
        <p:spPr>
          <a:xfrm>
            <a:off x="3623733" y="6319619"/>
            <a:ext cx="4182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9: Servlet Hit</a:t>
            </a:r>
          </a:p>
        </p:txBody>
      </p:sp>
    </p:spTree>
    <p:extLst>
      <p:ext uri="{BB962C8B-B14F-4D97-AF65-F5344CB8AC3E}">
        <p14:creationId xmlns:p14="http://schemas.microsoft.com/office/powerpoint/2010/main" val="2714397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5C5A-9C96-2912-5ED1-A7EAA1AB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5BF5C-92DC-3F0A-5735-D70416586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the project plan: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F32D65-1AB3-EDE5-2D99-DE34A4D29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15" y="1304628"/>
            <a:ext cx="7478169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55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423B-3B76-BB2D-540F-6407DD5F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6FD5-56CD-F03C-31B2-41390615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Key Learnings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8B0E23-28B9-A411-F2B9-0AAE335CE30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Gained strong understanding of Core Java and Object-Oriented Programming (OOP)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Learned how Apache Sling processes requests using resource-based architecture.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Understood the working of OSGi (Apache Felix) and modular service development. 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Worked with JCR (CRX Repository) for content storage and management.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Developed custom AEM components using HTL and Sling Models. 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Implemented Path-based and Resource-type Servlets for backend functionality.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Learned how to generate and handle JSON responses in AEM. 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Understood Author–Publish architecture and content replication process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Configured Dispatcher (Apache) for caching and URL rewriting. 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Improved debugging skills for servlet mapping and script resolution issues.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Learned structured and modular coding practices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Gained experience in working with real-time project architecture.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Improved problem-solving and analytical skills.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Understood best practices for scalable and maintainable web applications. 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Enhanced teamwork and professional communication skills.</a:t>
            </a:r>
            <a:endParaRPr lang="en-IN" sz="1800" dirty="0">
              <a:latin typeface="Times New Roman" panose="02020603050405020304" pitchFamily="18" charset="0"/>
              <a:ea typeface="Palatino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351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0878-8FE6-6431-E84F-16336E6D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43DA-2CB4-07C6-001C-3A639B4B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Work Contribution and Attendance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864F80-A98D-C3A6-300F-743060AF58A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17241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6ED005-6EC0-5EE2-8CB4-7008F054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202467"/>
              </p:ext>
            </p:extLst>
          </p:nvPr>
        </p:nvGraphicFramePr>
        <p:xfrm>
          <a:off x="77118" y="795764"/>
          <a:ext cx="8956714" cy="583363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35930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87979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4268968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139941">
                  <a:extLst>
                    <a:ext uri="{9D8B030D-6E8A-4147-A177-3AD203B41FA5}">
                      <a16:colId xmlns:a16="http://schemas.microsoft.com/office/drawing/2014/main" val="1693280867"/>
                    </a:ext>
                  </a:extLst>
                </a:gridCol>
                <a:gridCol w="787207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032934039"/>
                    </a:ext>
                  </a:extLst>
                </a:gridCol>
              </a:tblGrid>
              <a:tr h="484498">
                <a:tc gridSpan="6"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Repository URL: </a:t>
                      </a:r>
                      <a:r>
                        <a:rPr lang="en-US" sz="1400" dirty="0">
                          <a:hlinkClick r:id="rId2"/>
                        </a:rPr>
                        <a:t>arpita1501/university</a:t>
                      </a:r>
                      <a:endParaRPr lang="en-US" sz="13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737965"/>
                  </a:ext>
                </a:extLst>
              </a:tr>
              <a:tr h="887462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(provide complete details)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Contribution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Lines of Code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(if any)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 Attendance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267903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221030055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Worked on developing components and services using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Adobe Experience Manager (AEM)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Implemented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Sling Models, Servlets, and OSGi services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handle backend logic and dynamic content rendering. Gained hands-on experience with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CRXDE Lite, Maven build processes, and component development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Also worked on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configurations, logging, and integration of backend services within AEM architecture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374706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374706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033225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886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280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3194-9C46-7B10-5D70-B9C3D987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875B-8D9F-C28E-9A27-52775848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Supervisor </a:t>
            </a:r>
            <a:r>
              <a:rPr lang="en-IN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Interactions </a:t>
            </a:r>
            <a:r>
              <a:rPr lang="en-IN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(as mentioned in weekly log)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A942A6-C262-448C-36C3-8A22D5548AE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8BA634-6669-9F87-EF31-1C4579404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288604"/>
              </p:ext>
            </p:extLst>
          </p:nvPr>
        </p:nvGraphicFramePr>
        <p:xfrm>
          <a:off x="110168" y="881350"/>
          <a:ext cx="8835528" cy="50734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42608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Meetings with Supervisor: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71582"/>
                  </a:ext>
                </a:extLst>
              </a:tr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05/01/2026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09/01/2026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Learned basics of Core Java and AEM setup with good interest.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12/01/2026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16/01/2026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Understood AEM project structure and CRXDE Lite usage.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19/01/2026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23/01/2026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Worked on AEM component creation and dialog configuration.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26/01/2026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30/01/2026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Sling Models and HTL for dynamic content.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02/02/2026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06/02/2026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and tested basic AEM Servlets.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912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5E7F-6D85-EBF6-EAD4-18BE8EC5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F7BF-D279-302B-94BF-3DB4010A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Supervisor </a:t>
            </a:r>
            <a:r>
              <a:rPr lang="en-IN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Interactions</a:t>
            </a:r>
            <a:r>
              <a:rPr lang="en-IN" sz="24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 </a:t>
            </a:r>
            <a:r>
              <a:rPr lang="en-IN" sz="2400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(</a:t>
            </a:r>
            <a:r>
              <a:rPr lang="en-IN" sz="2400" b="0" dirty="0" err="1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cont</a:t>
            </a:r>
            <a:r>
              <a:rPr lang="en-IN" sz="2400" b="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…)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675676-26F3-304D-6B9E-B3644390EFB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7900DB-DF9E-B5EC-0B92-06A7F239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778677"/>
              </p:ext>
            </p:extLst>
          </p:nvPr>
        </p:nvGraphicFramePr>
        <p:xfrm>
          <a:off x="101600" y="804231"/>
          <a:ext cx="8811046" cy="4647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27350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09/02/2026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13/02/2026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Explored OSGi services and configurations.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16/02/2026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20/02/2026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good debugging and logging practices.</a:t>
                      </a: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23/02/2026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27/02/2026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Successfully completed assigned tasks and showed good progress.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40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" y="60960"/>
            <a:ext cx="8328752" cy="694064"/>
          </a:xfrm>
        </p:spPr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0" y="724544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Adobe Systems Incorporated, “Adobe Experience Manager Documentation,” Adobe Experience League, 2025.</a:t>
            </a:r>
          </a:p>
          <a:p>
            <a:pPr marL="9525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The Apache Software Foundation, “Apache Sling: A Web Framework for RESTful Applications,” Apache Software Foundation, 2025.</a:t>
            </a:r>
          </a:p>
          <a:p>
            <a:pPr marL="9525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The Apache Software Foundation, “Apache Jackrabbit Oak: A Scalable Hierarchical Content Repository,” Apache Software Foundation, 2025.</a:t>
            </a:r>
          </a:p>
          <a:p>
            <a:pPr marL="9525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The Apache Software Foundation, “Apache Felix: OSGi Framework and Runtime Service Platform,” Apache Software Foundation, 2025.</a:t>
            </a:r>
          </a:p>
          <a:p>
            <a:pPr marL="9525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Oracle Corporation, “Java Platform, Standard Edition Documentation,” Oracle, 2025.</a:t>
            </a:r>
          </a:p>
          <a:p>
            <a:pPr marL="9525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E. Gamma, R. Helm, R. Johnson, and J.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Vlissides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Design Patterns: Elements of Reusable Object-Oriented Software. Boston, MA, USA: Addison-Wesley, 1994.</a:t>
            </a:r>
          </a:p>
          <a:p>
            <a:pPr marL="9525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J. Bloch, Effective Java, 3rd ed. Boston, MA, USA: Addison-Wesley, 2018.</a:t>
            </a:r>
          </a:p>
        </p:txBody>
      </p:sp>
    </p:spTree>
    <p:extLst>
      <p:ext uri="{BB962C8B-B14F-4D97-AF65-F5344CB8AC3E}">
        <p14:creationId xmlns:p14="http://schemas.microsoft.com/office/powerpoint/2010/main" val="1082175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0791-3F4D-C8EA-6632-B1C3EC8E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DADB-37A7-3298-E4FE-623C4511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0A155F-E9D3-CE9B-ED58-F6066AA93EAC}"/>
              </a:ext>
            </a:extLst>
          </p:cNvPr>
          <p:cNvSpPr txBox="1">
            <a:spLocks/>
          </p:cNvSpPr>
          <p:nvPr/>
        </p:nvSpPr>
        <p:spPr bwMode="auto">
          <a:xfrm>
            <a:off x="93643" y="724544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[7] J. Bloch, Effective Java, 3rd ed. Boston, MA, USA: Addison-Wesley, 2018.</a:t>
            </a:r>
          </a:p>
          <a:p>
            <a:pPr marL="9525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[8] Adobe Systems Incorporated, “Adobe Experience Manager Dispatcher Documentation,”          Adobe Experience League, 2025.</a:t>
            </a:r>
          </a:p>
          <a:p>
            <a:pPr marL="9525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[9] The Apache Software Foundation, “Apache Maven Project Documentation,” Apache Software Foundation, 2025.</a:t>
            </a:r>
          </a:p>
          <a:p>
            <a:pPr marL="9525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Palatino" pitchFamily="2" charset="77"/>
                <a:cs typeface="Times New Roman" panose="02020603050405020304" pitchFamily="18" charset="0"/>
              </a:rPr>
              <a:t>[10] R. Fielding, “Architectural Styles and the Design of Network-Based Software Architectures,” Doctoral dissertation, University of California, Irvine, 2000</a:t>
            </a:r>
          </a:p>
        </p:txBody>
      </p:sp>
    </p:spTree>
    <p:extLst>
      <p:ext uri="{BB962C8B-B14F-4D97-AF65-F5344CB8AC3E}">
        <p14:creationId xmlns:p14="http://schemas.microsoft.com/office/powerpoint/2010/main" val="2165737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9601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endParaRPr lang="en-IN" sz="2000" b="1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r>
              <a:rPr lang="en-IN" sz="2000" b="1" dirty="0">
                <a:ea typeface="Palatino" pitchFamily="2" charset="77"/>
              </a:rPr>
              <a:t>Thanks</a:t>
            </a:r>
            <a:r>
              <a:rPr lang="en-IN" sz="1400" dirty="0">
                <a:ea typeface="Palatino" pitchFamily="2" charset="77"/>
              </a:rPr>
              <a:t>.</a:t>
            </a:r>
          </a:p>
        </p:txBody>
      </p:sp>
      <p:pic>
        <p:nvPicPr>
          <p:cNvPr id="1034" name="Picture 10" descr="🙏">
            <a:extLst>
              <a:ext uri="{FF2B5EF4-FFF2-40B4-BE49-F238E27FC236}">
                <a16:creationId xmlns:a16="http://schemas.microsoft.com/office/drawing/2014/main" id="{75E1F11E-915E-CA0A-3D1E-80341D39E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164" y="2663328"/>
            <a:ext cx="765672" cy="76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028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316&quot;&gt;&lt;object type=&quot;3&quot; unique_id=&quot;10317&quot;&gt;&lt;property id=&quot;20148&quot; value=&quot;5&quot;/&gt;&lt;property id=&quot;20300&quot; value=&quot;Slide 1 - &amp;quot;A Novel Framework for Analysis of Big Data&amp;quot;&quot;/&gt;&lt;property id=&quot;20307&quot; value=&quot;325&quot;/&gt;&lt;/object&gt;&lt;object type=&quot;3&quot; unique_id=&quot;10325&quot;&gt;&lt;property id=&quot;20148&quot; value=&quot;5&quot;/&gt;&lt;property id=&quot;20300&quot; value=&quot;Slide 3 - &amp;quot;Introduction&amp;quot;&quot;/&gt;&lt;property id=&quot;20307&quot; value=&quot;392&quot;/&gt;&lt;/object&gt;&lt;object type=&quot;3&quot; unique_id=&quot;10327&quot;&gt;&lt;property id=&quot;20148&quot; value=&quot;5&quot;/&gt;&lt;property id=&quot;20300&quot; value=&quot;Slide 4 - &amp;quot;Introduction (cont…)&amp;quot;&quot;/&gt;&lt;property id=&quot;20307&quot; value=&quot;395&quot;/&gt;&lt;/object&gt;&lt;object type=&quot;3&quot; unique_id=&quot;10333&quot;&gt;&lt;property id=&quot;20148&quot; value=&quot;5&quot;/&gt;&lt;property id=&quot;20300&quot; value=&quot;Slide 5 - &amp;quot;Big Data – A Definition&amp;quot;&quot;/&gt;&lt;property id=&quot;20307&quot; value=&quot;386&quot;/&gt;&lt;/object&gt;&lt;object type=&quot;3&quot; unique_id=&quot;10334&quot;&gt;&lt;property id=&quot;20148&quot; value=&quot;5&quot;/&gt;&lt;property id=&quot;20300&quot; value=&quot;Slide 6 - &amp;quot;Characteristics of Big Data&amp;quot;&quot;/&gt;&lt;property id=&quot;20307&quot; value=&quot;355&quot;/&gt;&lt;/object&gt;&lt;object type=&quot;3&quot; unique_id=&quot;10339&quot;&gt;&lt;property id=&quot;20148&quot; value=&quot;5&quot;/&gt;&lt;property id=&quot;20300&quot; value=&quot;Slide 7 - &amp;quot;Big Data Analytics&amp;quot;&quot;/&gt;&lt;property id=&quot;20307&quot; value=&quot;387&quot;/&gt;&lt;/object&gt;&lt;object type=&quot;3&quot; unique_id=&quot;10369&quot;&gt;&lt;property id=&quot;20148&quot; value=&quot;5&quot;/&gt;&lt;property id=&quot;20300&quot; value=&quot;Slide 8 - &amp;quot;List of Development Tools&amp;quot;&quot;/&gt;&lt;property id=&quot;20307&quot; value=&quot;505&quot;/&gt;&lt;/object&gt;&lt;object type=&quot;3&quot; unique_id=&quot;10371&quot;&gt;&lt;property id=&quot;20148&quot; value=&quot;5&quot;/&gt;&lt;property id=&quot;20300&quot; value=&quot;Slide 11 - &amp;quot;Malware Classification: A Case Study&amp;quot;&quot;/&gt;&lt;property id=&quot;20307&quot; value=&quot;514&quot;/&gt;&lt;/object&gt;&lt;object type=&quot;3&quot; unique_id=&quot;10372&quot;&gt;&lt;property id=&quot;20148&quot; value=&quot;5&quot;/&gt;&lt;property id=&quot;20300&quot; value=&quot;Slide 55&quot;/&gt;&lt;property id=&quot;20307&quot; value=&quot;452&quot;/&gt;&lt;/object&gt;&lt;object type=&quot;3&quot; unique_id=&quot;11475&quot;&gt;&lt;property id=&quot;20148&quot; value=&quot;5&quot;/&gt;&lt;property id=&quot;20300&quot; value=&quot;Slide 2 - &amp;quot;Outline&amp;quot;&quot;/&gt;&lt;property id=&quot;20307&quot; value=&quot;516&quot;/&gt;&lt;/object&gt;&lt;object type=&quot;3&quot; unique_id=&quot;11477&quot;&gt;&lt;property id=&quot;20148&quot; value=&quot;5&quot;/&gt;&lt;property id=&quot;20300&quot; value=&quot;Slide 21 - &amp;quot;Research Gaps&amp;quot;&quot;/&gt;&lt;property id=&quot;20307&quot; value=&quot;517&quot;/&gt;&lt;/object&gt;&lt;object type=&quot;3&quot; unique_id=&quot;11478&quot;&gt;&lt;property id=&quot;20148&quot; value=&quot;5&quot;/&gt;&lt;property id=&quot;20300&quot; value=&quot;Slide 22 - &amp;quot;Research Gaps (Cont…)&amp;quot;&quot;/&gt;&lt;property id=&quot;20307&quot; value=&quot;528&quot;/&gt;&lt;/object&gt;&lt;object type=&quot;3&quot; unique_id=&quot;11479&quot;&gt;&lt;property id=&quot;20148&quot; value=&quot;5&quot;/&gt;&lt;property id=&quot;20300&quot; value=&quot;Slide 23 - &amp;quot;Problem Definition&amp;quot;&quot;/&gt;&lt;property id=&quot;20307&quot; value=&quot;519&quot;/&gt;&lt;/object&gt;&lt;object type=&quot;3&quot; unique_id=&quot;11480&quot;&gt;&lt;property id=&quot;20148&quot; value=&quot;5&quot;/&gt;&lt;property id=&quot;20300&quot; value=&quot;Slide 24 - &amp;quot;Research Objectives&amp;quot;&quot;/&gt;&lt;property id=&quot;20307&quot; value=&quot;518&quot;/&gt;&lt;/object&gt;&lt;object type=&quot;3&quot; unique_id=&quot;11481&quot;&gt;&lt;property id=&quot;20148&quot; value=&quot;5&quot;/&gt;&lt;property id=&quot;20300&quot; value=&quot;Slide 25 - &amp;quot;Research Objectives 1&amp;quot;&quot;/&gt;&lt;property id=&quot;20307&quot; value=&quot;520&quot;/&gt;&lt;/object&gt;&lt;object type=&quot;3&quot; unique_id=&quot;11482&quot;&gt;&lt;property id=&quot;20148&quot; value=&quot;5&quot;/&gt;&lt;property id=&quot;20300&quot; value=&quot;Slide 26 - &amp;quot;Research Objectives 2&amp;quot;&quot;/&gt;&lt;property id=&quot;20307&quot; value=&quot;530&quot;/&gt;&lt;/object&gt;&lt;object type=&quot;3&quot; unique_id=&quot;11483&quot;&gt;&lt;property id=&quot;20148&quot; value=&quot;5&quot;/&gt;&lt;property id=&quot;20300&quot; value=&quot;Slide 27 - &amp;quot;Research Objectives 3&amp;quot;&quot;/&gt;&lt;property id=&quot;20307&quot; value=&quot;531&quot;/&gt;&lt;/object&gt;&lt;object type=&quot;3&quot; unique_id=&quot;11484&quot;&gt;&lt;property id=&quot;20148&quot; value=&quot;5&quot;/&gt;&lt;property id=&quot;20300&quot; value=&quot;Slide 28 - &amp;quot;Architecture for Big Data Analytics&amp;quot;&quot;/&gt;&lt;property id=&quot;20307&quot; value=&quot;522&quot;/&gt;&lt;/object&gt;&lt;object type=&quot;3&quot; unique_id=&quot;11485&quot;&gt;&lt;property id=&quot;20148&quot; value=&quot;5&quot;/&gt;&lt;property id=&quot;20300&quot; value=&quot;Slide 50 - &amp;quot;Key Contributions&amp;quot;&quot;/&gt;&lt;property id=&quot;20307&quot; value=&quot;523&quot;/&gt;&lt;/object&gt;&lt;object type=&quot;3&quot; unique_id=&quot;11486&quot;&gt;&lt;property id=&quot;20148&quot; value=&quot;5&quot;/&gt;&lt;property id=&quot;20300&quot; value=&quot;Slide 51 - &amp;quot;Key Contributions&amp;quot;&quot;/&gt;&lt;property id=&quot;20307&quot; value=&quot;529&quot;/&gt;&lt;/object&gt;&lt;object type=&quot;3&quot; unique_id=&quot;11487&quot;&gt;&lt;property id=&quot;20148&quot; value=&quot;5&quot;/&gt;&lt;property id=&quot;20300&quot; value=&quot;Slide 52 - &amp;quot;Future Scope&amp;quot;&quot;/&gt;&lt;property id=&quot;20307&quot; value=&quot;524&quot;/&gt;&lt;/object&gt;&lt;object type=&quot;3&quot; unique_id=&quot;11488&quot;&gt;&lt;property id=&quot;20148&quot; value=&quot;5&quot;/&gt;&lt;property id=&quot;20300&quot; value=&quot;Slide 53 - &amp;quot;List of Publications&amp;quot;&quot;/&gt;&lt;property id=&quot;20307&quot; value=&quot;525&quot;/&gt;&lt;/object&gt;&lt;object type=&quot;3&quot; unique_id=&quot;11489&quot;&gt;&lt;property id=&quot;20148&quot; value=&quot;5&quot;/&gt;&lt;property id=&quot;20300&quot; value=&quot;Slide 54 - &amp;quot;References&amp;quot;&quot;/&gt;&lt;property id=&quot;20307&quot; value=&quot;526&quot;/&gt;&lt;/object&gt;&lt;object type=&quot;3&quot; unique_id=&quot;12645&quot;&gt;&lt;property id=&quot;20148&quot; value=&quot;5&quot;/&gt;&lt;property id=&quot;20300&quot; value=&quot;Slide 31&quot;/&gt;&lt;property id=&quot;20307&quot; value=&quot;533&quot;/&gt;&lt;/object&gt;&lt;object type=&quot;3&quot; unique_id=&quot;12646&quot;&gt;&lt;property id=&quot;20148&quot; value=&quot;5&quot;/&gt;&lt;property id=&quot;20300&quot; value=&quot;Slide 32&quot;/&gt;&lt;property id=&quot;20307&quot; value=&quot;534&quot;/&gt;&lt;/object&gt;&lt;object type=&quot;3&quot; unique_id=&quot;12647&quot;&gt;&lt;property id=&quot;20148&quot; value=&quot;5&quot;/&gt;&lt;property id=&quot;20300&quot; value=&quot;Slide 33&quot;/&gt;&lt;property id=&quot;20307&quot; value=&quot;535&quot;/&gt;&lt;/object&gt;&lt;object type=&quot;3&quot; unique_id=&quot;13251&quot;&gt;&lt;property id=&quot;20148&quot; value=&quot;5&quot;/&gt;&lt;property id=&quot;20300&quot; value=&quot;Slide 29 - &amp;quot;Data Preparation&amp;quot;&quot;/&gt;&lt;property id=&quot;20307&quot; value=&quot;537&quot;/&gt;&lt;/object&gt;&lt;object type=&quot;3&quot; unique_id=&quot;13252&quot;&gt;&lt;property id=&quot;20148&quot; value=&quot;5&quot;/&gt;&lt;property id=&quot;20300&quot; value=&quot;Slide 30 - &amp;quot;Functional Flow of Malware Trend Analysis&amp;quot;&quot;/&gt;&lt;property id=&quot;20307&quot; value=&quot;536&quot;/&gt;&lt;/object&gt;&lt;object type=&quot;3&quot; unique_id=&quot;13253&quot;&gt;&lt;property id=&quot;20148&quot; value=&quot;5&quot;/&gt;&lt;property id=&quot;20300&quot; value=&quot;Slide 34 - &amp;quot;Conclusion&amp;quot;&quot;/&gt;&lt;property id=&quot;20307&quot; value=&quot;538&quot;/&gt;&lt;/object&gt;&lt;object type=&quot;3&quot; unique_id=&quot;14250&quot;&gt;&lt;property id=&quot;20148&quot; value=&quot;5&quot;/&gt;&lt;property id=&quot;20300&quot; value=&quot;Slide 16 - &amp;quot;Comparison of open source big data stream processing frameworks&amp;quot;&quot;/&gt;&lt;property id=&quot;20307&quot; value=&quot;542&quot;/&gt;&lt;/object&gt;&lt;object type=&quot;3&quot; unique_id=&quot;14251&quot;&gt;&lt;property id=&quot;20148&quot; value=&quot;5&quot;/&gt;&lt;property id=&quot;20300&quot; value=&quot;Slide 17 - &amp;quot;Comparison of open source big data stream processing frameworks&amp;quot;&quot;/&gt;&lt;property id=&quot;20307&quot; value=&quot;545&quot;/&gt;&lt;/object&gt;&lt;object type=&quot;3&quot; unique_id=&quot;15004&quot;&gt;&lt;property id=&quot;20148&quot; value=&quot;5&quot;/&gt;&lt;property id=&quot;20300&quot; value=&quot;Slide 18 - &amp;quot;Malware Detection and Classification Techniques&amp;quot;&quot;/&gt;&lt;property id=&quot;20307&quot; value=&quot;548&quot;/&gt;&lt;/object&gt;&lt;object type=&quot;3&quot; unique_id=&quot;15005&quot;&gt;&lt;property id=&quot;20148&quot; value=&quot;5&quot;/&gt;&lt;property id=&quot;20300&quot; value=&quot;Slide 19 - &amp;quot;Malware Detection and Classification Techniques&amp;quot;&quot;/&gt;&lt;property id=&quot;20307&quot; value=&quot;549&quot;/&gt;&lt;/object&gt;&lt;object type=&quot;3&quot; unique_id=&quot;15006&quot;&gt;&lt;property id=&quot;20148&quot; value=&quot;5&quot;/&gt;&lt;property id=&quot;20300&quot; value=&quot;Slide 20 - &amp;quot;Malware Detection and Classification Techniques&amp;quot;&quot;/&gt;&lt;property id=&quot;20307&quot; value=&quot;550&quot;/&gt;&lt;/object&gt;&lt;object type=&quot;3&quot; unique_id=&quot;15624&quot;&gt;&lt;property id=&quot;20148&quot; value=&quot;5&quot;/&gt;&lt;property id=&quot;20300&quot; value=&quot;Slide 12 - &amp;quot;Literature Review&amp;quot;&quot;/&gt;&lt;property id=&quot;20307&quot; value=&quot;552&quot;/&gt;&lt;/object&gt;&lt;object type=&quot;3&quot; unique_id=&quot;15625&quot;&gt;&lt;property id=&quot;20148&quot; value=&quot;5&quot;/&gt;&lt;property id=&quot;20300&quot; value=&quot;Slide 13 - &amp;quot;A bibliometric study of relevant literature in academics/industry&amp;quot;&quot;/&gt;&lt;property id=&quot;20307&quot; value=&quot;553&quot;/&gt;&lt;/object&gt;&lt;object type=&quot;3&quot; unique_id=&quot;15626&quot;&gt;&lt;property id=&quot;20148&quot; value=&quot;5&quot;/&gt;&lt;property id=&quot;20300&quot; value=&quot;Slide 14 - &amp;quot;Literature Review&amp;quot;&quot;/&gt;&lt;property id=&quot;20307&quot; value=&quot;551&quot;/&gt;&lt;/object&gt;&lt;object type=&quot;3&quot; unique_id=&quot;15627&quot;&gt;&lt;property id=&quot;20148&quot; value=&quot;5&quot;/&gt;&lt;property id=&quot;20300&quot; value=&quot;Slide 15 - &amp;quot;Comparison of open source big data stream processing frameworks&amp;quot;&quot;/&gt;&lt;property id=&quot;20307&quot; value=&quot;556&quot;/&gt;&lt;/object&gt;&lt;object type=&quot;3&quot; unique_id=&quot;16029&quot;&gt;&lt;property id=&quot;20148&quot; value=&quot;5&quot;/&gt;&lt;property id=&quot;20300&quot; value=&quot;Slide 35 - &amp;quot;Big Data Framework for Zero-Day Malware Classification&amp;quot;&quot;/&gt;&lt;property id=&quot;20307&quot; value=&quot;557&quot;/&gt;&lt;/object&gt;&lt;object type=&quot;3&quot; unique_id=&quot;16030&quot;&gt;&lt;property id=&quot;20148&quot; value=&quot;5&quot;/&gt;&lt;property id=&quot;20300&quot; value=&quot;Slide 42 - &amp;quot;Improving Malware Detection using Big Data and EL&amp;quot;&quot;/&gt;&lt;property id=&quot;20307&quot; value=&quot;558&quot;/&gt;&lt;/object&gt;&lt;object type=&quot;3&quot; unique_id=&quot;16031&quot;&gt;&lt;property id=&quot;20148&quot; value=&quot;5&quot;/&gt;&lt;property id=&quot;20300&quot; value=&quot;Slide 49 - &amp;quot;Malware Classification using Big Data and Deep Neural Network&amp;quot;&quot;/&gt;&lt;property id=&quot;20307&quot; value=&quot;559&quot;/&gt;&lt;/object&gt;&lt;object type=&quot;3&quot; unique_id=&quot;16282&quot;&gt;&lt;property id=&quot;20148&quot; value=&quot;5&quot;/&gt;&lt;property id=&quot;20300&quot; value=&quot;Slide 44 - &amp;quot;Proposed Schemes&amp;quot;&quot;/&gt;&lt;property id=&quot;20307&quot; value=&quot;560&quot;/&gt;&lt;/object&gt;&lt;object type=&quot;3&quot; unique_id=&quot;16872&quot;&gt;&lt;property id=&quot;20148&quot; value=&quot;5&quot;/&gt;&lt;property id=&quot;20300&quot; value=&quot;Slide 43 - &amp;quot;Feature Vectorization&amp;quot;&quot;/&gt;&lt;property id=&quot;20307&quot; value=&quot;562&quot;/&gt;&lt;/object&gt;&lt;object type=&quot;3&quot; unique_id=&quot;16873&quot;&gt;&lt;property id=&quot;20148&quot; value=&quot;5&quot;/&gt;&lt;property id=&quot;20300&quot; value=&quot;Slide 45 - &amp;quot;Experimental Results and Evaluation&amp;quot;&quot;/&gt;&lt;property id=&quot;20307&quot; value=&quot;561&quot;/&gt;&lt;/object&gt;&lt;object type=&quot;3&quot; unique_id=&quot;16874&quot;&gt;&lt;property id=&quot;20148&quot; value=&quot;5&quot;/&gt;&lt;property id=&quot;20300&quot; value=&quot;Slide 46 - &amp;quot;Evaluation Results&amp;quot;&quot;/&gt;&lt;property id=&quot;20307&quot; value=&quot;563&quot;/&gt;&lt;/object&gt;&lt;object type=&quot;3&quot; unique_id=&quot;16875&quot;&gt;&lt;property id=&quot;20148&quot; value=&quot;5&quot;/&gt;&lt;property id=&quot;20300&quot; value=&quot;Slide 47 - &amp;quot;Evaluation Results&amp;quot;&quot;/&gt;&lt;property id=&quot;20307&quot; value=&quot;564&quot;/&gt;&lt;/object&gt;&lt;object type=&quot;3&quot; unique_id=&quot;16876&quot;&gt;&lt;property id=&quot;20148&quot; value=&quot;5&quot;/&gt;&lt;property id=&quot;20300&quot; value=&quot;Slide 48 - &amp;quot;Conclusion&amp;quot;&quot;/&gt;&lt;property id=&quot;20307&quot; value=&quot;565&quot;/&gt;&lt;/object&gt;&lt;object type=&quot;3&quot; unique_id=&quot;17661&quot;&gt;&lt;property id=&quot;20148&quot; value=&quot;5&quot;/&gt;&lt;property id=&quot;20300&quot; value=&quot;Slide 36 - &amp;quot;Data Preparation&amp;quot;&quot;/&gt;&lt;property id=&quot;20307&quot; value=&quot;566&quot;/&gt;&lt;/object&gt;&lt;object type=&quot;3&quot; unique_id=&quot;17662&quot;&gt;&lt;property id=&quot;20148&quot; value=&quot;5&quot;/&gt;&lt;property id=&quot;20300&quot; value=&quot;Slide 37 - &amp;quot;Big Data Framework for Malware Classification&amp;quot;&quot;/&gt;&lt;property id=&quot;20307&quot; value=&quot;568&quot;/&gt;&lt;/object&gt;&lt;object type=&quot;3&quot; unique_id=&quot;17663&quot;&gt;&lt;property id=&quot;20148&quot; value=&quot;5&quot;/&gt;&lt;property id=&quot;20300&quot; value=&quot;Slide 38 - &amp;quot;Feature Extraction&amp;quot;&quot;/&gt;&lt;property id=&quot;20307&quot; value=&quot;571&quot;/&gt;&lt;/object&gt;&lt;object type=&quot;3&quot; unique_id=&quot;17664&quot;&gt;&lt;property id=&quot;20148&quot; value=&quot;5&quot;/&gt;&lt;property id=&quot;20300&quot; value=&quot;Slide 39 - &amp;quot;Impact of Features on Malware Classification&amp;quot;&quot;/&gt;&lt;property id=&quot;20307&quot; value=&quot;569&quot;/&gt;&lt;/object&gt;&lt;object type=&quot;3&quot; unique_id=&quot;17665&quot;&gt;&lt;property id=&quot;20148&quot; value=&quot;5&quot;/&gt;&lt;property id=&quot;20300&quot; value=&quot;Slide 40 - &amp;quot;Experimental Results&amp;quot;&quot;/&gt;&lt;property id=&quot;20307&quot; value=&quot;570&quot;/&gt;&lt;/object&gt;&lt;object type=&quot;3&quot; unique_id=&quot;18034&quot;&gt;&lt;property id=&quot;20148&quot; value=&quot;5&quot;/&gt;&lt;property id=&quot;20300&quot; value=&quot;Slide 41 - &amp;quot;Conclusion&amp;quot;&quot;/&gt;&lt;property id=&quot;20307&quot; value=&quot;572&quot;/&gt;&lt;/object&gt;&lt;object type=&quot;3&quot; unique_id=&quot;20918&quot;&gt;&lt;property id=&quot;20148&quot; value=&quot;5&quot;/&gt;&lt;property id=&quot;20300&quot; value=&quot;Slide 9 - &amp;quot;Scalable Machine Learning Libraries&amp;quot;&quot;/&gt;&lt;property id=&quot;20307&quot; value=&quot;575&quot;/&gt;&lt;/object&gt;&lt;object type=&quot;3&quot; unique_id=&quot;20919&quot;&gt;&lt;property id=&quot;20148&quot; value=&quot;5&quot;/&gt;&lt;property id=&quot;20300&quot; value=&quot;Slide 10 - &amp;quot;High Level Conceptual Architecture of Big Data Security Analytics&amp;quot;&quot;/&gt;&lt;property id=&quot;20307&quot; value=&quot;576&quot;/&gt;&lt;/object&gt;&lt;/object&gt;&lt;object type=&quot;8&quot; unique_id=&quot;1043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22160</TotalTime>
  <Words>2014</Words>
  <Application>Microsoft Office PowerPoint</Application>
  <PresentationFormat>On-screen Show (4:3)</PresentationFormat>
  <Paragraphs>277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Helvetica</vt:lpstr>
      <vt:lpstr>Palatino</vt:lpstr>
      <vt:lpstr>Tahoma</vt:lpstr>
      <vt:lpstr>Times New Roman</vt:lpstr>
      <vt:lpstr>Verdana</vt:lpstr>
      <vt:lpstr>Webdings</vt:lpstr>
      <vt:lpstr>1_os-8</vt:lpstr>
      <vt:lpstr>Custom Design</vt:lpstr>
      <vt:lpstr>Training Period-AEM</vt:lpstr>
      <vt:lpstr>Outline</vt:lpstr>
      <vt:lpstr>Introduction</vt:lpstr>
      <vt:lpstr>Objectives</vt:lpstr>
      <vt:lpstr>Literature Review</vt:lpstr>
      <vt:lpstr>Literature Review (cont…)</vt:lpstr>
      <vt:lpstr>Project Design</vt:lpstr>
      <vt:lpstr>Project Design (cont…)</vt:lpstr>
      <vt:lpstr>Project Design (cont…)</vt:lpstr>
      <vt:lpstr>Project Design (cont…)</vt:lpstr>
      <vt:lpstr>Tools, Technologies and Languages</vt:lpstr>
      <vt:lpstr>Tools, Technologies and Languages (cont…)</vt:lpstr>
      <vt:lpstr>Implementation</vt:lpstr>
      <vt:lpstr>Implementation (cont…)</vt:lpstr>
      <vt:lpstr>Implementation (cont…)</vt:lpstr>
      <vt:lpstr>Implementation (cont…)</vt:lpstr>
      <vt:lpstr>Experimental Results and Evaluation</vt:lpstr>
      <vt:lpstr>Experimental Results and Evaluation (cont…)</vt:lpstr>
      <vt:lpstr>Experimental Results and Evaluation (cont…)</vt:lpstr>
      <vt:lpstr>Experimental Results and Evaluation (cont…)</vt:lpstr>
      <vt:lpstr>Project Plan</vt:lpstr>
      <vt:lpstr>Key Learnings</vt:lpstr>
      <vt:lpstr>Work Contribution and Attendance</vt:lpstr>
      <vt:lpstr>Supervisor Interactions (as mentioned in weekly log)</vt:lpstr>
      <vt:lpstr>Supervisor Interactions (cont…)</vt:lpstr>
      <vt:lpstr>References</vt:lpstr>
      <vt:lpstr>References (cont…)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arpitabansal1501041@outlook.com</cp:lastModifiedBy>
  <cp:revision>1495</cp:revision>
  <cp:lastPrinted>2025-09-08T06:45:20Z</cp:lastPrinted>
  <dcterms:created xsi:type="dcterms:W3CDTF">2008-07-20T15:16:37Z</dcterms:created>
  <dcterms:modified xsi:type="dcterms:W3CDTF">2026-03-06T02:53:16Z</dcterms:modified>
</cp:coreProperties>
</file>